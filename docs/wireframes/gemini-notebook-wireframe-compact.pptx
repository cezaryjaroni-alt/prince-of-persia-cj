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 · ALL 8 BLOCKS · 0–100% SCROLL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Notebook — Wireframe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274320"/>
          </a:xfrm>
          <a:prstGeom prst="roundRect">
            <a:avLst>
              <a:gd name="adj" fmla="val 20000"/>
            </a:avLst>
          </a:prstGeom>
          <a:solidFill>
            <a:srgbClr val="F3F4EE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672895" cy="274320"/>
          </a:xfrm>
          <a:prstGeom prst="rect">
            <a:avLst/>
          </a:prstGeom>
          <a:solidFill>
            <a:srgbClr val="2C5F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70432"/>
            <a:ext cx="1691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383" y="1170432"/>
            <a:ext cx="770931" cy="274320"/>
          </a:xfrm>
          <a:prstGeom prst="rect">
            <a:avLst/>
          </a:prstGeom>
          <a:solidFill>
            <a:srgbClr val="3E7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48383" y="1170432"/>
            <a:ext cx="789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37601" y="1170432"/>
            <a:ext cx="1447404" cy="274320"/>
          </a:xfrm>
          <a:prstGeom prst="rect">
            <a:avLst/>
          </a:prstGeom>
          <a:solidFill>
            <a:srgbClr val="2C5F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37601" y="1170432"/>
            <a:ext cx="1465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3293" y="1170432"/>
            <a:ext cx="1447404" cy="274320"/>
          </a:xfrm>
          <a:prstGeom prst="rect">
            <a:avLst/>
          </a:prstGeom>
          <a:solidFill>
            <a:srgbClr val="3E75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03293" y="1170432"/>
            <a:ext cx="1465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68985" y="1170432"/>
            <a:ext cx="1109167" cy="274320"/>
          </a:xfrm>
          <a:prstGeom prst="rect">
            <a:avLst/>
          </a:prstGeom>
          <a:solidFill>
            <a:srgbClr val="2C5F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68985" y="1170432"/>
            <a:ext cx="1127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6440" y="1170432"/>
            <a:ext cx="883676" cy="274320"/>
          </a:xfrm>
          <a:prstGeom prst="rect">
            <a:avLst/>
          </a:prstGeom>
          <a:solidFill>
            <a:srgbClr val="3E7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6440" y="1170432"/>
            <a:ext cx="901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98404" y="1170432"/>
            <a:ext cx="1334658" cy="274320"/>
          </a:xfrm>
          <a:prstGeom prst="rect">
            <a:avLst/>
          </a:prstGeom>
          <a:solidFill>
            <a:srgbClr val="2C5F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98404" y="1170432"/>
            <a:ext cx="1352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51351" y="1170432"/>
            <a:ext cx="2462113" cy="274320"/>
          </a:xfrm>
          <a:prstGeom prst="rect">
            <a:avLst/>
          </a:prstGeom>
          <a:solidFill>
            <a:srgbClr val="3E7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51351" y="1170432"/>
            <a:ext cx="24804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14630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14630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1783080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" y="1874520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0–15%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" y="2039112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thesis, dual non-competing CTAs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" y="25054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" y="25054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" y="249631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No-hallucination proof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" y="274868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5216" y="27486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" y="273954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NN/g + Clearbit data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5216" y="299191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5216" y="299191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" y="298277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→ governance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" y="323514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5216" y="323514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" y="322600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switcher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12414" y="1783080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40430" y="1874520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15–22%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3440430" y="2039112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by Google Cloud &amp; Workspace teams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40430" y="25054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440430" y="25054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3687318" y="249631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enterprise use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440430" y="274868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440430" y="27486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3687318" y="273954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CXL: logos beat claims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40430" y="299191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440430" y="299191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3687318" y="298277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deposit, top 20%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40430" y="323514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440430" y="323514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3687318" y="322600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logos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67628" y="1783080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95644" y="1874520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22–35%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295644" y="2039112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concrete steps of work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95644" y="25054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95644" y="25054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6542532" y="249631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value is produced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95644" y="274868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95644" y="27486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6542532" y="273954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Help: 3-step flow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95644" y="299191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295644" y="299191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6542532" y="298277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use cases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95644" y="323514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95644" y="323514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6542532" y="322600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LMS auto-publish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022842" y="1783080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50858" y="1874520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35–48%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9150858" y="2039112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repeatable L&amp;D tasks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150858" y="25054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150858" y="250545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9397746" y="249631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L&amp;D budget lines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150858" y="274868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150858" y="274868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76" name="Text 74"/>
          <p:cNvSpPr txBox="1"/>
          <p:nvPr/>
        </p:nvSpPr>
        <p:spPr>
          <a:xfrm>
            <a:off x="9397746" y="2739542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ATD: 49–154 hrs/hr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150858" y="299191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150858" y="299191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79" name="Text 77"/>
          <p:cNvSpPr txBox="1"/>
          <p:nvPr/>
        </p:nvSpPr>
        <p:spPr>
          <a:xfrm>
            <a:off x="9397746" y="298277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mechanism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150858" y="323514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150858" y="323514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9397746" y="3226003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frontline-only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" y="4210812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85216" y="4302252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48–58%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585216" y="4466844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to the exact paragraph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85216" y="49331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85216" y="4933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832104" y="492404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the #1 objection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85216" y="517641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85216" y="517641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832104" y="516727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Hardman: 18 AI studies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85216" y="541964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85216" y="54196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832104" y="541050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skepticism point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85216" y="566287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85216" y="566287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832104" y="565373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infallible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312414" y="4210812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440430" y="4302252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58–66%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3440430" y="4466844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Complements your LMS, doesn’t replace it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3440430" y="49331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440430" y="4933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103" name="Text 101"/>
          <p:cNvSpPr txBox="1"/>
          <p:nvPr/>
        </p:nvSpPr>
        <p:spPr>
          <a:xfrm>
            <a:off x="3687318" y="492404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existing LMS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440430" y="517641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3440430" y="517641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106" name="Text 104"/>
          <p:cNvSpPr txBox="1"/>
          <p:nvPr/>
        </p:nvSpPr>
        <p:spPr>
          <a:xfrm>
            <a:off x="3687318" y="516727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CommLab + CFR Part 11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440430" y="541964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440430" y="54196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3687318" y="541050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governance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440430" y="566287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440430" y="566287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3687318" y="565373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“certification”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167628" y="4210812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295644" y="4302252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66–78%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6295644" y="4466844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isolation &amp; admin controls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6295644" y="49331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6295644" y="4933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6542532" y="492404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legal facts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295644" y="517641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295644" y="517641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121" name="Text 119"/>
          <p:cNvSpPr txBox="1"/>
          <p:nvPr/>
        </p:nvSpPr>
        <p:spPr>
          <a:xfrm>
            <a:off x="6542532" y="516727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17% vendor time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295644" y="541964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6295644" y="54196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124" name="Text 122"/>
          <p:cNvSpPr txBox="1"/>
          <p:nvPr/>
        </p:nvSpPr>
        <p:spPr>
          <a:xfrm>
            <a:off x="6542532" y="541050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Serious-buyer zone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295644" y="566287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6295644" y="566287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6542532" y="565373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HIPAA/FedRAMP claim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022842" y="4210812"/>
            <a:ext cx="2708910" cy="2281428"/>
          </a:xfrm>
          <a:prstGeom prst="roundRect">
            <a:avLst>
              <a:gd name="adj" fmla="val 280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9150858" y="4302252"/>
            <a:ext cx="24528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78–100%</a:t>
            </a:r>
            <a:endParaRPr lang="en-US" sz="800" dirty="0"/>
          </a:p>
        </p:txBody>
      </p:sp>
      <p:sp>
        <p:nvSpPr>
          <p:cNvPr id="130" name="Text 128"/>
          <p:cNvSpPr txBox="1"/>
          <p:nvPr/>
        </p:nvSpPr>
        <p:spPr>
          <a:xfrm>
            <a:off x="9150858" y="4466844"/>
            <a:ext cx="24528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to start your first document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9150858" y="49331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9150858" y="4933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133" name="Text 131"/>
          <p:cNvSpPr txBox="1"/>
          <p:nvPr/>
        </p:nvSpPr>
        <p:spPr>
          <a:xfrm>
            <a:off x="9397746" y="492404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remaining doubts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9150858" y="517641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9150858" y="517641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136" name="Text 134"/>
          <p:cNvSpPr txBox="1"/>
          <p:nvPr/>
        </p:nvSpPr>
        <p:spPr>
          <a:xfrm>
            <a:off x="9397746" y="5167274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leaders, 1,001 A/B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9150858" y="541964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9150858" y="541964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139" name="Text 137"/>
          <p:cNvSpPr txBox="1"/>
          <p:nvPr/>
        </p:nvSpPr>
        <p:spPr>
          <a:xfrm>
            <a:off x="9397746" y="541050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Bottom-of-page close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150858" y="566287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9150858" y="5662879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142" name="Text 140"/>
          <p:cNvSpPr txBox="1"/>
          <p:nvPr/>
        </p:nvSpPr>
        <p:spPr>
          <a:xfrm>
            <a:off x="9397746" y="5653735"/>
            <a:ext cx="220599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buzzwords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 PART 1 · BLOCKS 1–4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Notebook — Wireframe Rationale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161288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HERO BAND · 0–15% SCROLL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325880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thesis, dual non-competing CTAs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636776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Badge → H1 → Subhead → 2 CTAs → Answer preview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1792224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792224"/>
            <a:ext cx="782498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" y="1984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" y="19842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975104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tool handles dense technical documentation without hallucinating.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" y="2351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" y="235183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342693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NN/g (2018): 74% of views land in the first two screens; Clearbit: early demo CTAs cut requests 20%.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" y="271942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71942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710282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mechanics must land before enterprise governance has any value.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6072" y="308701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308701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077870"/>
            <a:ext cx="4969764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switcher — 30 B2B benchmarks (Notion, Slack, Linear) show toggles kill bottom-up adoption.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31636" y="1051560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6228" y="1161288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CUSTOMER LOGO STRIP · 15–22% SCROLL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396228" y="1325880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by Google Cloud &amp; Workspace teams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96228" y="1636776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4 verified logos: Sonata · Rivian · Transcom · Freshfields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396228" y="1792224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726" y="1792224"/>
            <a:ext cx="365166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28" name="Shape 26"/>
          <p:cNvSpPr/>
          <p:nvPr/>
        </p:nvSpPr>
        <p:spPr>
          <a:xfrm>
            <a:off x="6396228" y="1984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6228" y="19842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643116" y="1975104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recognized enterprise organization actually deploys the product.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96228" y="2351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96228" y="235183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6643116" y="2342693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CXL Institute (n=200): recognizable logos build trust and recall faster than unverified claims.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96228" y="271942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271942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6643116" y="2710282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immediate trust deposit in the top 20% of the page.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96228" y="308701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96228" y="308701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6643116" y="3077870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fictional “Company 1 / 2 / 3” placeholders.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986784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" y="4096512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MECHANISM · 22–35% SCROLL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76072" y="4261104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concrete steps of work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76072" y="4572000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Source → Query → Studio → SME review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6072" y="4727448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23735" y="4727448"/>
            <a:ext cx="678165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46" name="Shape 44"/>
          <p:cNvSpPr/>
          <p:nvPr/>
        </p:nvSpPr>
        <p:spPr>
          <a:xfrm>
            <a:off x="576072" y="491947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6072" y="49194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" y="4910328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Demystifies how verified value is produced, without a fragile chat simulator.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6072" y="528706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6072" y="528706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5277917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Google Help documentation for Gemini Notebook: Sources → Chat → Studio.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6072" y="565465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" y="565465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" y="5645506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must grasp core mechanics before discovering specific use cases.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6072" y="602223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6072" y="602223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822960" y="6013094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promise automated publishing into corporate LMS platforms.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31636" y="3986784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96228" y="4096512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USE CASES · 35–48% SCROLL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6396228" y="4261104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repeatable L&amp;D tasks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396228" y="4572000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Onboarding · Development · Maintenance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96228" y="4727448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2056" y="4727448"/>
            <a:ext cx="678165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64" name="Shape 62"/>
          <p:cNvSpPr/>
          <p:nvPr/>
        </p:nvSpPr>
        <p:spPr>
          <a:xfrm>
            <a:off x="6396228" y="491947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96228" y="49194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6643116" y="4910328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product to existing operational budget lines and daily L&amp;D pain points.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96228" y="528706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396228" y="528706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69" name="Text 67"/>
          <p:cNvSpPr txBox="1"/>
          <p:nvPr/>
        </p:nvSpPr>
        <p:spPr>
          <a:xfrm>
            <a:off x="6643116" y="5277917"/>
            <a:ext cx="4969764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 &amp; Chapman Alliance: 49–154 production hours per finished e-learning hour. Dr. William Ryan: L&amp;D is shifting from volume metrics to cycle-time.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396228" y="579729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96228" y="57972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6643116" y="5788152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workflow explanation from the mechanism block.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396228" y="6164885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396228" y="616488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6643116" y="6155741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pigeonhole the product into frontline service staff only.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 PART 2 · BLOCKS 5–8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Notebook — Wireframe Rationale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161288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OBJECTION HANDLING · 48–58% SCROLL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325880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to the exact paragraph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636776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Pull-quote callout → 2 demo widgets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1792224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0065" y="1792224"/>
            <a:ext cx="521665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" y="1984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" y="19842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975104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the #1 objection raised by L&amp;D, Legal, and Compliance executives.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" y="2351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" y="235183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342693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Hardman synthesis of 18 AI studies documents fabricated citations in generated learning materials.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" y="271942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71942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710282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mid-page, right when executive skepticism peaks.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6072" y="308701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308701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077870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claim the model is infallible — frame citations as empowering SME review.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31636" y="1051560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6228" y="1161288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STACK POSITION · 58–66% SCROLL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396228" y="1325880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Complements your LMS, doesn’t replace it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96228" y="1636776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Gemini Notebook → existing LMS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396228" y="1792224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21886" y="1792224"/>
            <a:ext cx="417332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28" name="Shape 26"/>
          <p:cNvSpPr/>
          <p:nvPr/>
        </p:nvSpPr>
        <p:spPr>
          <a:xfrm>
            <a:off x="6396228" y="198424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6228" y="19842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643116" y="1975104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procurement/IT friction by confirming the incumbent LMS stays in place.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96228" y="2351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96228" y="2351837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6643116" y="2342693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CommLab India LMS market analysis; 21 CFR Part 11 audit-trail duties remain with the LMS of record.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96228" y="271942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271942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6643116" y="2710282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buyer for the enterprise governance section that follows.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96228" y="308701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96228" y="308701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6643116" y="3077870"/>
            <a:ext cx="496976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“certification” is strictly banned.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986784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" y="4096512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ENTERPRISE GOVERNANCE · 66–78% SCROLL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76072" y="4261104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isolation &amp; admin controls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76072" y="4572000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3 governance facts + pricing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6072" y="4727448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19062" y="4727448"/>
            <a:ext cx="625998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46" name="Shape 44"/>
          <p:cNvSpPr/>
          <p:nvPr/>
        </p:nvSpPr>
        <p:spPr>
          <a:xfrm>
            <a:off x="576072" y="491947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6072" y="49194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" y="4910328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Equips the internal champion with unambiguous facts for CISO, InfoSec, and legal review.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6072" y="528706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6072" y="528706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5277917"/>
            <a:ext cx="4969764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B2B buying groups of 6–10 spend only 17% of their time with vendors, so they need self-serve security proof.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6072" y="579729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" y="579729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" y="5788152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where the serious buyer scrolls to, or lands via the hero anchor.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6072" y="6164885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6072" y="6164885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822960" y="6155741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promise HIPAA, FedRAMP, or Workspace DLP integration without official clearance.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31636" y="3986784"/>
            <a:ext cx="5545836" cy="27340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D6D9C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96228" y="4096512"/>
            <a:ext cx="52166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PROOF, FAQ &amp; CLOSE · 78–100% SCROLL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6396228" y="4261104"/>
            <a:ext cx="5216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to start your first document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396228" y="4572000"/>
            <a:ext cx="52166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2 testimonials → FAQ accordion → 2 CTAs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96228" y="4727448"/>
            <a:ext cx="5216652" cy="146304"/>
          </a:xfrm>
          <a:prstGeom prst="roundRect">
            <a:avLst>
              <a:gd name="adj" fmla="val 50000"/>
            </a:avLst>
          </a:prstGeom>
          <a:solidFill>
            <a:srgbClr val="F3F4EE"/>
          </a:solidFill>
          <a:ln w="9525">
            <a:solidFill>
              <a:srgbClr val="D6D9C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65217" y="4727448"/>
            <a:ext cx="1147663" cy="146304"/>
          </a:xfrm>
          <a:prstGeom prst="roundRect">
            <a:avLst>
              <a:gd name="adj" fmla="val 50000"/>
            </a:avLst>
          </a:prstGeom>
          <a:solidFill>
            <a:srgbClr val="2C5F52"/>
          </a:solidFill>
          <a:ln/>
        </p:spPr>
      </p:sp>
      <p:sp>
        <p:nvSpPr>
          <p:cNvPr id="64" name="Shape 62"/>
          <p:cNvSpPr/>
          <p:nvPr/>
        </p:nvSpPr>
        <p:spPr>
          <a:xfrm>
            <a:off x="6396228" y="491947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5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96228" y="49194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6643116" y="4910328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C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remaining micro-objections and offers balanced conversion pathways.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96228" y="5287061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5A2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396228" y="528706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5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700" dirty="0"/>
          </a:p>
        </p:txBody>
      </p:sp>
      <p:sp>
        <p:nvSpPr>
          <p:cNvPr id="69" name="Text 67"/>
          <p:cNvSpPr txBox="1"/>
          <p:nvPr/>
        </p:nvSpPr>
        <p:spPr>
          <a:xfrm>
            <a:off x="6643116" y="5277917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17 B2B leaders and a meta-analysis of 1,001 A/B tests.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396228" y="565465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726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96228" y="565465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6643116" y="5645506"/>
            <a:ext cx="496976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bottom-of-page close.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396228" y="587959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3A3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396228" y="5879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F3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6643116" y="5870448"/>
            <a:ext cx="4969764" cy="37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</a:t>
            </a:r>
            <a:pPr indent="0" marL="0">
              <a:buNone/>
            </a:pPr>
            <a:r>
              <a:rPr lang="en-US" sz="800" dirty="0">
                <a:solidFill>
                  <a:srgbClr val="55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 buzzwords allowed in FAQ answers.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2026-09-10T05:58:27Z</dcterms:created>
  <dcterms:modified xsi:type="dcterms:W3CDTF">2026-09-10T05:58:27Z</dcterms:modified>
</cp:coreProperties>
</file>