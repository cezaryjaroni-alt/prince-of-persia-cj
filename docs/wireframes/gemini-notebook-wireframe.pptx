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F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WIREFRAME SPECIFICATION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Notebook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3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 wireframe — 8 sequential scroll blocks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from a wireframe-inspection pass on gemini-notebook-ld-hub.vercel.app. Each block pairs a structural sketch with the UX rationale behind it — the question it answers, the evidence behind it, why it sits in this order, and what it must never claim.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709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study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47091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4709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86784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dataset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47091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4709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21424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pattern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blocks · 0–100% scroll depth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1 · HERO BAND · 0–15% SCROLL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thesis, dual non-competing CTAs, skip anchor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7091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709928"/>
            <a:ext cx="4416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9224" y="1929384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" y="192938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BADGE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9224" y="2221992"/>
            <a:ext cx="4416552" cy="502920"/>
          </a:xfrm>
          <a:prstGeom prst="roundRect">
            <a:avLst>
              <a:gd name="adj" fmla="val 10909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276856"/>
            <a:ext cx="4197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432304"/>
            <a:ext cx="4197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manuals to verified understanding.”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" y="2798064"/>
            <a:ext cx="4416552" cy="292608"/>
          </a:xfrm>
          <a:prstGeom prst="roundRect">
            <a:avLst>
              <a:gd name="adj" fmla="val 1875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852928"/>
            <a:ext cx="4197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SUBHEAD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3008376"/>
            <a:ext cx="419709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line, 2 rows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9224" y="3163824"/>
            <a:ext cx="2561600" cy="237744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" y="3163824"/>
            <a:ext cx="241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on your own materials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9155" y="3163824"/>
            <a:ext cx="1766621" cy="237744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72307" y="3163824"/>
            <a:ext cx="16203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deployment ▾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9224" y="3474720"/>
            <a:ext cx="4416552" cy="566928"/>
          </a:xfrm>
          <a:prstGeom prst="roundRect">
            <a:avLst>
              <a:gd name="adj" fmla="val 9677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3529584"/>
            <a:ext cx="4197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PREVIEW (PLACEHOLDER)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58952" y="3767328"/>
            <a:ext cx="4197096" cy="54864"/>
          </a:xfrm>
          <a:prstGeom prst="rect">
            <a:avLst/>
          </a:prstGeom>
          <a:solidFill>
            <a:srgbClr val="555F55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" y="3867912"/>
            <a:ext cx="3567532" cy="54864"/>
          </a:xfrm>
          <a:prstGeom prst="rect">
            <a:avLst/>
          </a:prstGeom>
          <a:solidFill>
            <a:srgbClr val="D6D9CD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" y="3968496"/>
            <a:ext cx="1259129" cy="54864"/>
          </a:xfrm>
          <a:prstGeom prst="rect">
            <a:avLst/>
          </a:prstGeom>
          <a:solidFill>
            <a:srgbClr val="2C5F5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461772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 POSITION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4837176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837176"/>
            <a:ext cx="706374" cy="128016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228600" y="4983480"/>
            <a:ext cx="12550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0–15%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0" y="16184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77840" y="1618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888736" y="1609344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GOAL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888736" y="1874520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“Can this tool handle my dense technical documentation without hallucinating?”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246933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5A2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77840" y="24693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888736" y="2460193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EMPIRICAL BENCHMARK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888736" y="2725369"/>
            <a:ext cx="5797296" cy="636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Nielsen Norman Group (2018): 57% of viewing time is above the fold and 74% within the first two screenfuls — the fold must not present a false bottom (the illusion of completeness).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888736" y="3361563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Clearbit: sending ICP visitors straight to a demo form reduced demo requests by 20%.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395638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77840" y="39563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888736" y="3947236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LOGIC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888736" y="4212412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mechanics must be understood before enterprise governance has any value.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77840" y="4825517"/>
            <a:ext cx="6108192" cy="983666"/>
          </a:xfrm>
          <a:prstGeom prst="roundRect">
            <a:avLst>
              <a:gd name="adj" fmla="val 4648"/>
            </a:avLst>
          </a:prstGeom>
          <a:solidFill>
            <a:srgbClr val="F2E1DD"/>
          </a:solidFill>
          <a:ln/>
        </p:spPr>
      </p:sp>
      <p:sp>
        <p:nvSpPr>
          <p:cNvPr id="43" name="Shape 41"/>
          <p:cNvSpPr/>
          <p:nvPr/>
        </p:nvSpPr>
        <p:spPr>
          <a:xfrm>
            <a:off x="5705856" y="4953533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3A3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705856" y="495353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016752" y="4944389"/>
            <a:ext cx="5541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BOUNDARY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016752" y="5154701"/>
            <a:ext cx="5541264" cy="636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no audience switcher. Thirty B2B benchmarks (Notion, Slack, Linear) confirm audience toggles destroy bottom-up adoption.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2 · CUSTOMER LOGO STRIP · 15–22% SCROLL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by enterprise teams using Google Cloud &amp; Workspace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709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709928"/>
            <a:ext cx="4416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9224" y="1929384"/>
            <a:ext cx="2153412" cy="457200"/>
          </a:xfrm>
          <a:prstGeom prst="roundRect">
            <a:avLst>
              <a:gd name="adj" fmla="val 12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984248"/>
            <a:ext cx="19339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139696"/>
            <a:ext cx="1933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Sonata Design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12364" y="1929384"/>
            <a:ext cx="2153412" cy="457200"/>
          </a:xfrm>
          <a:prstGeom prst="roundRect">
            <a:avLst>
              <a:gd name="adj" fmla="val 12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2092" y="1984248"/>
            <a:ext cx="19339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022092" y="2139696"/>
            <a:ext cx="1933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" y="2496312"/>
            <a:ext cx="2153412" cy="457200"/>
          </a:xfrm>
          <a:prstGeom prst="roundRect">
            <a:avLst>
              <a:gd name="adj" fmla="val 12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2551176"/>
            <a:ext cx="19339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2706624"/>
            <a:ext cx="1933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12364" y="2496312"/>
            <a:ext cx="2153412" cy="457200"/>
          </a:xfrm>
          <a:prstGeom prst="roundRect">
            <a:avLst>
              <a:gd name="adj" fmla="val 12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22092" y="2551176"/>
            <a:ext cx="19339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022092" y="2706624"/>
            <a:ext cx="1933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Freshfields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47472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 POSITION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3694176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9294" y="3694176"/>
            <a:ext cx="329641" cy="128016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3840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840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934974" y="3840480"/>
            <a:ext cx="8782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15–22%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577840" y="16184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77840" y="1618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888736" y="1609344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GOAL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888736" y="1874520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“Does any recognized enterprise organization actually deploy this?”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246933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5A2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77840" y="24693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888736" y="2460193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EMPIRICAL BENCHMARK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888736" y="2725369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CXL Institute study (n=200): recognizable logos build brand trust and recall faster than unverified claims.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3320186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77840" y="33201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888736" y="3311042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LOGIC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888736" y="3576218"/>
            <a:ext cx="5797296" cy="2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immediate trust deposit in the top 20% of the page.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77840" y="4019931"/>
            <a:ext cx="6108192" cy="644881"/>
          </a:xfrm>
          <a:prstGeom prst="roundRect">
            <a:avLst>
              <a:gd name="adj" fmla="val 7090"/>
            </a:avLst>
          </a:prstGeom>
          <a:solidFill>
            <a:srgbClr val="F2E1DD"/>
          </a:solidFill>
          <a:ln/>
        </p:spPr>
      </p:sp>
      <p:sp>
        <p:nvSpPr>
          <p:cNvPr id="37" name="Shape 35"/>
          <p:cNvSpPr/>
          <p:nvPr/>
        </p:nvSpPr>
        <p:spPr>
          <a:xfrm>
            <a:off x="5705856" y="414794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3A3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05856" y="414794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016752" y="4138803"/>
            <a:ext cx="5541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BOUNDARY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016752" y="4349115"/>
            <a:ext cx="5541264" cy="2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fictional “Company 1 / 2 / 3” placeholders.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3 · MECHANISM · 22–35% SCROLL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concrete steps of work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709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709928"/>
            <a:ext cx="4416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9224" y="1929384"/>
            <a:ext cx="2043684" cy="566928"/>
          </a:xfrm>
          <a:prstGeom prst="roundRect">
            <a:avLst>
              <a:gd name="adj" fmla="val 9677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984248"/>
            <a:ext cx="18242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SOURCE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139696"/>
            <a:ext cx="18242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SOPs, ≤500k words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71119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22092" y="1929384"/>
            <a:ext cx="2043684" cy="566928"/>
          </a:xfrm>
          <a:prstGeom prst="roundRect">
            <a:avLst>
              <a:gd name="adj" fmla="val 9677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31820" y="1984248"/>
            <a:ext cx="18242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QUERY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131820" y="2139696"/>
            <a:ext cx="18242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clickable [1][2]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9224" y="2660904"/>
            <a:ext cx="2043684" cy="566928"/>
          </a:xfrm>
          <a:prstGeom prst="roundRect">
            <a:avLst>
              <a:gd name="adj" fmla="val 9677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715768"/>
            <a:ext cx="18242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STUDIO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2871216"/>
            <a:ext cx="18242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Guides, quizzes, slides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711196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22092" y="2660904"/>
            <a:ext cx="2043684" cy="566928"/>
          </a:xfrm>
          <a:prstGeom prst="roundRect">
            <a:avLst>
              <a:gd name="adj" fmla="val 9677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31820" y="2715768"/>
            <a:ext cx="18242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SME REVIEW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3131820" y="2871216"/>
            <a:ext cx="18242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Docs, Forms, Slides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74904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 POSITION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3968496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38935" y="3968496"/>
            <a:ext cx="612191" cy="128016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41148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41148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1264615" y="4114800"/>
            <a:ext cx="11608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22–35%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577840" y="16184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1618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888736" y="1609344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GOAL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888736" y="1874520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Demystifies how verified value is produced, without a fragile chat simulator.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246933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5A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77840" y="24693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888736" y="2460193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EMPIRICAL BENCHMARK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888736" y="2725369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 Official Google Help documentation for Gemini Notebook: Sources → Chat → Studio.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77840" y="3320186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77840" y="33201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888736" y="3311042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LOGIC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888736" y="3576218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must understand core product mechanics before discovering specific use cases.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4189324"/>
            <a:ext cx="6108192" cy="814273"/>
          </a:xfrm>
          <a:prstGeom prst="roundRect">
            <a:avLst>
              <a:gd name="adj" fmla="val 5615"/>
            </a:avLst>
          </a:prstGeom>
          <a:solidFill>
            <a:srgbClr val="F2E1DD"/>
          </a:solidFill>
          <a:ln/>
        </p:spPr>
      </p:sp>
      <p:sp>
        <p:nvSpPr>
          <p:cNvPr id="39" name="Shape 37"/>
          <p:cNvSpPr/>
          <p:nvPr/>
        </p:nvSpPr>
        <p:spPr>
          <a:xfrm>
            <a:off x="5705856" y="431734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3A3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05856" y="43173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016752" y="4308196"/>
            <a:ext cx="5541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BOUNDARY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016752" y="4518508"/>
            <a:ext cx="5541264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promise automated publishing into corporate LMS platforms.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4 · USE CASES · 35–48% SCROLL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repeatable L&amp;D tasks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709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709928"/>
            <a:ext cx="4416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9224" y="1929384"/>
            <a:ext cx="4416552" cy="530352"/>
          </a:xfrm>
          <a:prstGeom prst="roundRect">
            <a:avLst>
              <a:gd name="adj" fmla="val 10345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984248"/>
            <a:ext cx="4197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139696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140-page handbooks → verified first-week answers with page references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9224" y="2551176"/>
            <a:ext cx="4416552" cy="530352"/>
          </a:xfrm>
          <a:prstGeom prst="roundRect">
            <a:avLst>
              <a:gd name="adj" fmla="val 10345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606040"/>
            <a:ext cx="4197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761488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→ slide outlines &amp; knowledge checks in 15 min instead of 40 hrs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" y="3172968"/>
            <a:ext cx="4416552" cy="530352"/>
          </a:xfrm>
          <a:prstGeom prst="roundRect">
            <a:avLst>
              <a:gd name="adj" fmla="val 10345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227832"/>
            <a:ext cx="4197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338328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delta when an SOP changes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16052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 POSITION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4379976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51126" y="4379976"/>
            <a:ext cx="612191" cy="128016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" y="45262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5262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1876806" y="4526280"/>
            <a:ext cx="11608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35–48%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577840" y="16184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7840" y="1618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888736" y="1609344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GOAL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888736" y="1874520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product to existing operational budget lines and daily pain points.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246933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5A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24693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888736" y="2460193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EMPIRICAL BENCHMARK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888736" y="2725369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 ATD &amp; Chapman Alliance: 49–154 production hours per finished hour of e-learning.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888736" y="3192170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[C] Dr. William J. Ryan: L&amp;D is moving away from volume metrics toward cycle-time reduction.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37869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77840" y="37869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888736" y="3777844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LOGIC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888736" y="4043020"/>
            <a:ext cx="5797296" cy="2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workflow explanation.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77840" y="4486732"/>
            <a:ext cx="6108192" cy="814273"/>
          </a:xfrm>
          <a:prstGeom prst="roundRect">
            <a:avLst>
              <a:gd name="adj" fmla="val 5615"/>
            </a:avLst>
          </a:prstGeom>
          <a:solidFill>
            <a:srgbClr val="F2E1DD"/>
          </a:solidFill>
          <a:ln/>
        </p:spPr>
      </p:sp>
      <p:sp>
        <p:nvSpPr>
          <p:cNvPr id="35" name="Shape 33"/>
          <p:cNvSpPr/>
          <p:nvPr/>
        </p:nvSpPr>
        <p:spPr>
          <a:xfrm>
            <a:off x="5705856" y="461474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3A3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05856" y="46147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16752" y="4605604"/>
            <a:ext cx="5541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BOUNDARY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016752" y="4815916"/>
            <a:ext cx="5541264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pigeonhole the product into frontline service staff only.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5 · OBJECTION HANDLING · 48–58% SCROLL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Clickable citations to the exact paragraph. Zero ungrounded generation.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709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709928"/>
            <a:ext cx="4416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9224" y="1929384"/>
            <a:ext cx="4416552" cy="1234440"/>
          </a:xfrm>
          <a:prstGeom prst="roundRect">
            <a:avLst>
              <a:gd name="adj" fmla="val 4444"/>
            </a:avLst>
          </a:prstGeom>
          <a:solidFill>
            <a:srgbClr val="F1E2CE"/>
          </a:solidFill>
          <a:ln w="12700">
            <a:solidFill>
              <a:srgbClr val="F1E2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984248"/>
            <a:ext cx="41970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“40% of AI-generated enterprise materials contain fabricated citations (Dr. Philippa Hardman, synthesis of 18 AI studies). Gemini Notebook anchors every response strictly to your uploaded text.”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9224" y="3282696"/>
            <a:ext cx="2429104" cy="237744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" y="3282696"/>
            <a:ext cx="228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widget — primary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10824" y="3282696"/>
            <a:ext cx="1854952" cy="237744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83976" y="3282696"/>
            <a:ext cx="170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widget — secondary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2336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 POSITION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4242816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3317" y="4242816"/>
            <a:ext cx="470916" cy="128016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43891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43891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488997" y="4389120"/>
            <a:ext cx="10195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48–58%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577840" y="16184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1618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88736" y="1609344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GOAL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888736" y="1874520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Neutralizes the #1 objection of L&amp;D, Legal, and Compliance executives.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246933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5A2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77840" y="24693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888736" y="2460193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EMPIRICAL BENCHMARK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888736" y="2725369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Hardman synthesis of 18 AI studies on fabricated citations in generated learning materials.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3320186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33201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888736" y="3311042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LOGIC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888736" y="3576218"/>
            <a:ext cx="5797296" cy="2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Mid-page, right when executive skepticism peaks.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4019931"/>
            <a:ext cx="6108192" cy="814273"/>
          </a:xfrm>
          <a:prstGeom prst="roundRect">
            <a:avLst>
              <a:gd name="adj" fmla="val 5615"/>
            </a:avLst>
          </a:prstGeom>
          <a:solidFill>
            <a:srgbClr val="F2E1DD"/>
          </a:solidFill>
          <a:ln/>
        </p:spPr>
      </p:sp>
      <p:sp>
        <p:nvSpPr>
          <p:cNvPr id="31" name="Shape 29"/>
          <p:cNvSpPr/>
          <p:nvPr/>
        </p:nvSpPr>
        <p:spPr>
          <a:xfrm>
            <a:off x="5705856" y="414794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3A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05856" y="414794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16752" y="4138803"/>
            <a:ext cx="5541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BOUNDARY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016752" y="4349115"/>
            <a:ext cx="5541264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claim the model is infallible; frame citations as empowering SME review.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6 · STACK POSITION · 58–66% SCROLL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Complements your LMS. Does not replace it.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709928"/>
            <a:ext cx="4416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9224" y="1929384"/>
            <a:ext cx="2052828" cy="822960"/>
          </a:xfrm>
          <a:prstGeom prst="roundRect">
            <a:avLst>
              <a:gd name="adj" fmla="val 6667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984248"/>
            <a:ext cx="18333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NOTEBOOK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139696"/>
            <a:ext cx="18333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Preparation, grounded Q&amp;A, rapid authoring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72034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2948" y="1929384"/>
            <a:ext cx="2052828" cy="822960"/>
          </a:xfrm>
          <a:prstGeom prst="roundRect">
            <a:avLst>
              <a:gd name="adj" fmla="val 6667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22676" y="1984248"/>
            <a:ext cx="18333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 LMS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122676" y="2139696"/>
            <a:ext cx="18333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Cornerstone / Workday / Moodle — tracking &amp; compliance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33756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 POSITION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3557016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4233" y="3557016"/>
            <a:ext cx="376733" cy="128016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37033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7033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2959913" y="3703320"/>
            <a:ext cx="9253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58–66%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577840" y="16184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1618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888736" y="1609344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GOAL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888736" y="1874520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friction with procurement and IT — confirms they don’t need to replace their incumbent LMS.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7840" y="246933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5A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24693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888736" y="2460193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EMPIRICAL BENCHMARK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888736" y="2725369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 CommLab India LMS market analysis; 21 CFR Part 11 audit-trail requirements remain with the LMS of record.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3320186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77840" y="33201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888736" y="3311042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LOGIC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888736" y="3576218"/>
            <a:ext cx="5797296" cy="2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buyer for the enterprise governance section.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4019931"/>
            <a:ext cx="6108192" cy="644881"/>
          </a:xfrm>
          <a:prstGeom prst="roundRect">
            <a:avLst>
              <a:gd name="adj" fmla="val 7090"/>
            </a:avLst>
          </a:prstGeom>
          <a:solidFill>
            <a:srgbClr val="F2E1DD"/>
          </a:solidFill>
          <a:ln/>
        </p:spPr>
      </p:sp>
      <p:sp>
        <p:nvSpPr>
          <p:cNvPr id="32" name="Shape 30"/>
          <p:cNvSpPr/>
          <p:nvPr/>
        </p:nvSpPr>
        <p:spPr>
          <a:xfrm>
            <a:off x="5705856" y="414794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3A3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05856" y="414794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16752" y="4138803"/>
            <a:ext cx="5541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BOUNDARY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016752" y="4349115"/>
            <a:ext cx="5541264" cy="2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“certification” is strictly banned.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7 · ENTERPRISE GOVERNANCE · 66–78% SCROLL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isolation and admin controls built into Google Workspace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709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709928"/>
            <a:ext cx="4416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9224" y="1929384"/>
            <a:ext cx="4416552" cy="530352"/>
          </a:xfrm>
          <a:prstGeom prst="roundRect">
            <a:avLst>
              <a:gd name="adj" fmla="val 10345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984248"/>
            <a:ext cx="4197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 #1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139696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and prompts are not used to train foundation models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9224" y="2551176"/>
            <a:ext cx="4416552" cy="530352"/>
          </a:xfrm>
          <a:prstGeom prst="roundRect">
            <a:avLst>
              <a:gd name="adj" fmla="val 10345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606040"/>
            <a:ext cx="4197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 #2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761488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under Google Cloud IAM and the Workspace Admin Console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" y="3172968"/>
            <a:ext cx="4416552" cy="530352"/>
          </a:xfrm>
          <a:prstGeom prst="roundRect">
            <a:avLst>
              <a:gd name="adj" fmla="val 10345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227832"/>
            <a:ext cx="4197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338328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Workspace plans, or standalone Google Cloud — $9/license/mo, min. 15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16052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 POSITION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4379976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0966" y="4379976"/>
            <a:ext cx="565099" cy="128016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" y="45262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5262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336646" y="4526280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66–78%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577840" y="16184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7840" y="1618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888736" y="1609344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GOAL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888736" y="1874520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Equips the internal project champion with unambiguous facts for CISO, InfoSec, and legal review.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246933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5A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24693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888736" y="2460193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EMPIRICAL BENCHMARK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888736" y="2725369"/>
            <a:ext cx="5797296" cy="636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 Gartner B2B buying journey: buying groups of 6–10 spend only 17% of their time with vendors — they need self-serve security ammunition.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3489579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77840" y="348957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888736" y="3480435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LOGIC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888736" y="3745611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where the serious buyer scrolls to, or lands via the hero anchor.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4358716"/>
            <a:ext cx="6108192" cy="814273"/>
          </a:xfrm>
          <a:prstGeom prst="roundRect">
            <a:avLst>
              <a:gd name="adj" fmla="val 5615"/>
            </a:avLst>
          </a:prstGeom>
          <a:solidFill>
            <a:srgbClr val="F2E1DD"/>
          </a:solidFill>
          <a:ln/>
        </p:spPr>
      </p:sp>
      <p:sp>
        <p:nvSpPr>
          <p:cNvPr id="34" name="Shape 32"/>
          <p:cNvSpPr/>
          <p:nvPr/>
        </p:nvSpPr>
        <p:spPr>
          <a:xfrm>
            <a:off x="5705856" y="448673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3A3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705856" y="44867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016752" y="4477588"/>
            <a:ext cx="5541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BOUNDARY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016752" y="4687900"/>
            <a:ext cx="5541264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promise HIPAA, FedRAMP, or Workspace DLP integration without official clearance.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8 · PROOF, FAQ &amp; CLOSE · 78–100% SCROLL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need to start with your first document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709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709928"/>
            <a:ext cx="4416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9224" y="1929384"/>
            <a:ext cx="2153412" cy="566928"/>
          </a:xfrm>
          <a:prstGeom prst="roundRect">
            <a:avLst>
              <a:gd name="adj" fmla="val 9677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984248"/>
            <a:ext cx="19339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TESTIMONIAL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139696"/>
            <a:ext cx="1933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Specialist — on review speed (placeholder)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12364" y="1929384"/>
            <a:ext cx="2153412" cy="566928"/>
          </a:xfrm>
          <a:prstGeom prst="roundRect">
            <a:avLst>
              <a:gd name="adj" fmla="val 9677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2092" y="1984248"/>
            <a:ext cx="19339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TESTIMONIAL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022092" y="2139696"/>
            <a:ext cx="1933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Director — on verification accuracy (placeholder)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9224" y="2606040"/>
            <a:ext cx="4416552" cy="329184"/>
          </a:xfrm>
          <a:prstGeom prst="roundRect">
            <a:avLst>
              <a:gd name="adj" fmla="val 16667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2660904"/>
            <a:ext cx="4197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ACCORDION FAQ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2816352"/>
            <a:ext cx="4197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Q2 · Q3 (collapsed rows)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" y="3044952"/>
            <a:ext cx="2649931" cy="237744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3044952"/>
            <a:ext cx="25036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on your own materials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87486" y="3044952"/>
            <a:ext cx="1678290" cy="237744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60638" y="3044952"/>
            <a:ext cx="1531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sales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79476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 POSITION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4014216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76065" y="4014216"/>
            <a:ext cx="1036015" cy="128016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" y="41605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41605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3901745" y="4160520"/>
            <a:ext cx="15846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78–100%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577840" y="16184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1618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888736" y="1609344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GOAL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888736" y="1874520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remaining micro-objections and provides balanced conversion pathways.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246933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5A2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77840" y="24693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888736" y="2460193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EMPIRICAL BENCHMARK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888736" y="2725369"/>
            <a:ext cx="5797296" cy="4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 Benchmark of 17 B2B leaders and the Analytics Toolkit meta-analysis of 1,001 A/B tests.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3320186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77840" y="33201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888736" y="3311042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LOGIC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888736" y="3576218"/>
            <a:ext cx="5797296" cy="2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Bottom-of-page close.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77840" y="4019931"/>
            <a:ext cx="6108192" cy="644881"/>
          </a:xfrm>
          <a:prstGeom prst="roundRect">
            <a:avLst>
              <a:gd name="adj" fmla="val 7090"/>
            </a:avLst>
          </a:prstGeom>
          <a:solidFill>
            <a:srgbClr val="F2E1DD"/>
          </a:solidFill>
          <a:ln/>
        </p:spPr>
      </p:sp>
      <p:sp>
        <p:nvSpPr>
          <p:cNvPr id="38" name="Shape 36"/>
          <p:cNvSpPr/>
          <p:nvPr/>
        </p:nvSpPr>
        <p:spPr>
          <a:xfrm>
            <a:off x="5705856" y="4147947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3A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05856" y="414794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016752" y="4138803"/>
            <a:ext cx="5541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BOUNDARY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016752" y="4349115"/>
            <a:ext cx="5541264" cy="2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0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marketing buzzwords in FAQ answers.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2026-09-10T05:46:53Z</dcterms:created>
  <dcterms:modified xsi:type="dcterms:W3CDTF">2026-09-10T05:46:53Z</dcterms:modified>
</cp:coreProperties>
</file>